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188720"/>
            <a:ext cx="12188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FA8FF"/>
                </a:solidFill>
                <a:latin typeface="Calibri"/>
              </a:rPr>
              <a:t>A VISUAL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745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Crystal Graph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AAB6C8"/>
                </a:solidFill>
                <a:latin typeface="Calibri"/>
              </a:rPr>
              <a:t>Predicting elastic moduli directly from crystal structure — a from-scratch reproduction of PINK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1" y="3977639"/>
            <a:ext cx="1965960" cy="868680"/>
          </a:xfrm>
          <a:prstGeom prst="roundRect">
            <a:avLst/>
          </a:prstGeom>
          <a:solidFill>
            <a:srgbClr val="1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1" y="4206240"/>
            <a:ext cx="256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FA8F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3" y="3977639"/>
            <a:ext cx="1965960" cy="868680"/>
          </a:xfrm>
          <a:prstGeom prst="roundRect">
            <a:avLst/>
          </a:prstGeom>
          <a:solidFill>
            <a:srgbClr val="1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Crystal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5463" y="4206240"/>
            <a:ext cx="256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FA8FF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1495" y="3977639"/>
            <a:ext cx="1965960" cy="868680"/>
          </a:xfrm>
          <a:prstGeom prst="roundRect">
            <a:avLst/>
          </a:prstGeom>
          <a:solidFill>
            <a:srgbClr val="1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CGCNN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7455" y="4206240"/>
            <a:ext cx="256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FA8F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3977639"/>
            <a:ext cx="1965960" cy="868680"/>
          </a:xfrm>
          <a:prstGeom prst="roundRect">
            <a:avLst/>
          </a:prstGeom>
          <a:solidFill>
            <a:srgbClr val="1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 and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9448" y="4206240"/>
            <a:ext cx="256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FA8F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3977639"/>
            <a:ext cx="1965960" cy="868680"/>
          </a:xfrm>
          <a:prstGeom prst="roundRect">
            <a:avLst/>
          </a:prstGeom>
          <a:solidFill>
            <a:srgbClr val="1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κₗ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AB6C8"/>
                </a:solidFill>
                <a:latin typeface="Calibri"/>
              </a:rPr>
              <a:t>Aizaz Khalid  ·  reproduction of PINK (J. Mater. Inf. 2025, 5, 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Why predict elastic moduli?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7889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Elastic moduli come from DFT calculations costing hours to days of compute per material.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5B6B82"/>
                </a:solidFill>
                <a:latin typeface="Calibri"/>
              </a:rPr>
              <a:t>Only ~11,000 of the Materials Project's ~150,000 entries have them.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5B6B82"/>
                </a:solidFill>
                <a:latin typeface="Calibri"/>
              </a:rPr>
              <a:t>Screening a large candidate space by DFT is simply not affordable.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17320"/>
            <a:ext cx="5394960" cy="27889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65392" y="16916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Why they matter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PINK screens for materials with ultralow lattice thermal conductivity κₗ.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5B6B82"/>
                </a:solidFill>
                <a:latin typeface="Calibri"/>
              </a:rPr>
              <a:t>Its physics stage needs bulk modulus K and shear modulus G as inputs.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5B6B82"/>
                </a:solidFill>
                <a:latin typeface="Calibri"/>
              </a:rPr>
              <a:t>A network that predicts K and G in milliseconds turns an impossible screen into a routine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7183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 CIF says where the atoms are. It does not say how stiff the crystal is — that is what we are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02 ·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Where this work fits in PINK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331720" cy="1508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Cambria"/>
              </a:rPr>
              <a:t>CIF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82"/>
                </a:solidFill>
                <a:latin typeface="Calibri"/>
              </a:rPr>
              <a:t>crystal
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450AA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74519"/>
            <a:ext cx="2331720" cy="1508760"/>
          </a:xfrm>
          <a:prstGeom prst="roundRect">
            <a:avLst/>
          </a:prstGeom>
          <a:solidFill>
            <a:srgbClr val="E8EFFA"/>
          </a:solidFill>
          <a:ln w="9525">
            <a:solidFill>
              <a:srgbClr val="145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CGCNN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82"/>
                </a:solidFill>
                <a:latin typeface="Calibri"/>
              </a:rPr>
              <a:t>predicts
K and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450A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2331720" cy="1508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Cambria"/>
              </a:rPr>
              <a:t>Slack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82"/>
                </a:solidFill>
                <a:latin typeface="Calibri"/>
              </a:rPr>
              <a:t>physics,
not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450A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74519"/>
            <a:ext cx="2331720" cy="1508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Cambria"/>
              </a:rPr>
              <a:t>κₗ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060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82"/>
                </a:solidFill>
                <a:latin typeface="Calibri"/>
              </a:rPr>
              <a:t>lattice thermal
conductivity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The elastic moduli are the ONLY learned quantity. Everything downstream is physics.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This project implements the first arrow — CIF → (K, G) — including the network itself, written from scratch rather than forked. It produces the (K, G) table the κₗ stage consumes.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Scope: the machine-learning half of PINK, reproduced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03 ·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A crystal becomes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  <a:latin typeface="Calibri"/>
              </a:rPr>
              <a:t>A neural network cannot read a .cif file. So we translate: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50AA"/>
                </a:solidFill>
                <a:latin typeface="Cambria"/>
              </a:rPr>
              <a:t>Nodes = atoms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Each atom carries a fixed 92-dimensional vector of element properties: group, period, electronegativity, covalent radius, valence electrons.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828800"/>
            <a:ext cx="352044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8E5A"/>
                </a:solidFill>
                <a:latin typeface="Cambria"/>
              </a:rPr>
              <a:t>Edges = bonds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1460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The 12 nearest neighbours within 8 Å. The search respects periodic boundaries, so atoms at a cell face see their periodic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52044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94192" y="2084831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B12"/>
                </a:solidFill>
                <a:latin typeface="Cambria"/>
              </a:rPr>
              <a:t>Edge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51460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Each bond length is expanded onto 41 Gaussian basis functions rather than fed in as one raw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1091672" cy="1188720"/>
          </a:xfrm>
          <a:prstGeom prst="roundRect">
            <a:avLst/>
          </a:prstGeom>
          <a:solidFill>
            <a:srgbClr val="EFF5EF"/>
          </a:solidFill>
          <a:ln w="9525">
            <a:solidFill>
              <a:srgbClr val="C8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37083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Why this representation generalises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The graph stores only distances between atoms, never absolute positions — so it is invariant to translation, rotation and the choice of unit cell. The same crystal written two different ways produces the same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04 · EDGE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Why bond lengths are expanded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1672" cy="1005840"/>
          </a:xfrm>
          <a:prstGeom prst="roundRect">
            <a:avLst/>
          </a:prstGeom>
          <a:solidFill>
            <a:srgbClr val="F7F9FD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mbria"/>
              </a:rPr>
              <a:t>eₖ(d) = exp( −(d − μₖ)² / σ² )     μₖ = 0, 0.2, … 8 Å     σ = 0.2 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5394960" cy="19202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The problem with a raw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73552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A single scalar distance forces the network to learn a sharply non-linear response to it from scratch — a hard thing to fit and slow to converge.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40"/>
            <a:ext cx="5394960" cy="19202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65392" y="28529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What the expansion buys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3273552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A bond at 2.31 Å strongly activates the basis functions centred near 2.3 and barely touches the one at 5.0. The distance dependence becomes a smooth, nearly linear read-out — far easier to learn.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06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9469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This is a radial basis expansion — the same trick used throughout atomistic machine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05 · 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Gated graph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Message passing updates each atom's vector using its neighbours. For atom i with neighbours j: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34440"/>
          </a:xfrm>
          <a:prstGeom prst="roundRect">
            <a:avLst/>
          </a:prstGeom>
          <a:solidFill>
            <a:srgbClr val="F7F9FD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937"/>
                </a:solidFill>
                <a:latin typeface="Cambria"/>
              </a:rPr>
              <a:t>zᵢⱼ = vᵢ ⊕ vⱼ ⊕ eᵢⱼ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450AA"/>
                </a:solidFill>
                <a:latin typeface="Cambria"/>
              </a:rPr>
              <a:t>vᵢ ← vᵢ + Σⱼ  σ(zᵢⱼ W_f + b_f) ⊙ g(zᵢⱼ W_s + b_s)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575304" cy="17830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50AA"/>
                </a:solidFill>
                <a:latin typeface="Calibri"/>
              </a:rPr>
              <a:t>The gate  σ(·)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22191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Decides, per bond, how much that neighbour contributes. A weak long bond can be ignored without being discarded.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3200400"/>
            <a:ext cx="3575304" cy="17830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856" y="34290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Shared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822191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The same linear layer processes every edge. That is what makes this a convolution, and why it generalises across crystal sizes.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200400"/>
            <a:ext cx="3575304" cy="17830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34290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B12"/>
                </a:solidFill>
                <a:latin typeface="Calibri"/>
              </a:rPr>
              <a:t>The residual  vᵢ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22191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Gradients flow straight through the stack, so early layers are not washed out by later 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3126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Three convolution layers, so every atom sees its environment out to roughly three bond hops.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06 · POOLING &amp;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Two decisions that matter more than they look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148840"/>
          </a:xfrm>
          <a:prstGeom prst="roundRect">
            <a:avLst/>
          </a:prstGeom>
          <a:solidFill>
            <a:srgbClr val="EFF5EF"/>
          </a:solidFill>
          <a:ln w="9525">
            <a:solidFill>
              <a:srgbClr val="C8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8E5A"/>
                </a:solidFill>
                <a:latin typeface="Cambria"/>
              </a:rPr>
              <a:t>Mean-pool, never 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mbria"/>
              </a:rPr>
              <a:t>v_c = (1/N) Σᵢ vᵢ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A modulus is an INTENSIVE property. Doubling the unit cell must not double the prediction — but a sum would make the output scale with however many atoms the CIF author happened to write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394960" cy="2148840"/>
          </a:xfrm>
          <a:prstGeom prst="roundRect">
            <a:avLst/>
          </a:prstGeom>
          <a:solidFill>
            <a:srgbClr val="FDF4E8"/>
          </a:solidFill>
          <a:ln w="9525">
            <a:solidFill>
              <a:srgbClr val="F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65392" y="16093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B12"/>
                </a:solidFill>
                <a:latin typeface="Cambria"/>
              </a:rPr>
              <a:t>Train on log₁₀(modulus)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82"/>
                </a:solidFill>
                <a:latin typeface="Calibri"/>
              </a:rPr>
              <a:t>moduli span 1 – 575 GPa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50592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Under a plain MSE on raw values, a 40 GPa error on a stiff crystal produces 100× more gradient than the same RELATIVE error on a soft one — so the model would learn to care only about hard materials.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91672" cy="1325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Exactly the wrong bias for this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10469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PINK screens for ULTRALOW thermal conductivity — the soft, compliant end of the range. Taking the logarithm converts “within a factor of x” into “within a fixed distance”, so soft and stiff crystals carry equal weight.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4041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Normalisation statistics come from the training split only — using all the data would leak the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07 ·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What to train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1417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mbria"/>
              </a:rPr>
              <a:t>1,213 CIFs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Materials Project structures, and NO labels at all. These are the PREDICTION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325880"/>
            <a:ext cx="5394960" cy="1417320"/>
          </a:xfrm>
          <a:prstGeom prst="roundRect">
            <a:avLst/>
          </a:prstGeom>
          <a:solidFill>
            <a:srgbClr val="E8EFFA"/>
          </a:solidFill>
          <a:ln w="9525">
            <a:solidFill>
              <a:srgbClr val="145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65392" y="15361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50AA"/>
                </a:solidFill>
                <a:latin typeface="Cambria"/>
              </a:rPr>
              <a:t>10,987 matbench crystals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202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DFT-computed K and G — the same benchmark the paper trained on. This is the TRAINING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Only 278 of the 1,213 appear in matbench — so it is tempting to label those and train on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1091672" cy="1417320"/>
          </a:xfrm>
          <a:prstGeom prst="roundRect">
            <a:avLst/>
          </a:prstGeom>
          <a:solidFill>
            <a:srgbClr val="FDF4E8"/>
          </a:solidFill>
          <a:ln w="9525">
            <a:solidFill>
              <a:srgbClr val="F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B12"/>
                </a:solidFill>
                <a:latin typeface="Cambria"/>
              </a:rPr>
              <a:t>The structures were never the limit — the LABELS were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469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Intersecting an unlabelled collection with a labelled benchmark discards 97% of the labels that exist. Invert the roles: train on all 10,987 matbench crystals, and treat the 1,213 CIFs purely as a prediction set. That is 40× more data — and it is what the paper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54864" cy="566928"/>
          </a:xfrm>
          <a:prstGeom prst="roundRect">
            <a:avLst/>
          </a:prstGeom>
          <a:solidFill>
            <a:srgbClr val="D9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1755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When labels are the scarce resource, never let an unlabelled collection define your training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08 · ENSEMBLING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Three models, averaged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Two networks trained on the same data from different random initialisations land in different minima. They AGREE about the signal and DISAGREE about their own noise — so averaging keeps the first and partially cancels the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575304" cy="19659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575304" cy="6400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2514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50AA"/>
                </a:solidFill>
                <a:latin typeface="Calibri"/>
              </a:rPr>
              <a:t>Average in log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Members predicting 10 and 1000 GPa average to 100 GPa in log space but 505 GPa linearly. 100 is the defensible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240280"/>
            <a:ext cx="3575304" cy="19659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06824" y="2240280"/>
            <a:ext cx="3575304" cy="6400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2856" y="2514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Members share one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--seed varies initialisation; --split-seed is PINNED. Otherwise the ensemble is scored partly on data some members trained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240280"/>
            <a:ext cx="3575304" cy="19659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575304" cy="64008"/>
          </a:xfrm>
          <a:prstGeom prst="roundRect">
            <a:avLst/>
          </a:prstGeom>
          <a:solidFill>
            <a:srgbClr val="D9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2514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B12"/>
                </a:solidFill>
                <a:latin typeface="Calibri"/>
              </a:rPr>
              <a:t>Free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The spread between members is a per-crystal confidence estimate — where they disagree, the ensemble is guessing.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6268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The code refuses to combine members whose test splits disagree, rather than trusting the caller to have got it 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09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Model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1672" cy="411480"/>
          </a:xfrm>
          <a:prstGeom prst="round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B82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0831" y="14630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6B82"/>
                </a:solidFill>
                <a:latin typeface="Calibri"/>
              </a:rPr>
              <a:t>MAE log₁₀(GPa)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463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6B82"/>
                </a:solidFill>
                <a:latin typeface="Calibri"/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1" y="146304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6B82"/>
                </a:solidFill>
                <a:latin typeface="Calibri"/>
              </a:rPr>
              <a:t>MAE (GPa)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1463040"/>
            <a:ext cx="15819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B6B82"/>
                </a:solidFill>
                <a:latin typeface="Calibri"/>
              </a:rPr>
              <a:t>Rel.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11095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Bulk, single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1" y="1911095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0.0696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11095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0.882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911095"/>
            <a:ext cx="1463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11.54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8672" y="1911095"/>
            <a:ext cx="15819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17.4%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58568"/>
            <a:ext cx="11091672" cy="475488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38658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Bulk, 3-model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38658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0.0630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38658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0.901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2386584"/>
            <a:ext cx="1463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2386584"/>
            <a:ext cx="15819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15.6%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86207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Shear, single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86207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0.0836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86207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0.889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862072"/>
            <a:ext cx="1463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7.71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862072"/>
            <a:ext cx="15819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B82"/>
                </a:solidFill>
                <a:latin typeface="Calibri"/>
              </a:rPr>
              <a:t>21.2%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09544"/>
            <a:ext cx="11091672" cy="475488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" y="333756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Shear, 3-model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1" y="333756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0.0781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3375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0.899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3337560"/>
            <a:ext cx="1463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7.27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3337560"/>
            <a:ext cx="15819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19.7%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B82"/>
                </a:solidFill>
                <a:latin typeface="Calibri"/>
              </a:rPr>
              <a:t>Measured on 1,648 held-out crystals. All models share one train/validation/test split, so every row is directly comparable.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97680"/>
            <a:ext cx="5394960" cy="960120"/>
          </a:xfrm>
          <a:prstGeom prst="roundRect">
            <a:avLst/>
          </a:prstGeom>
          <a:solidFill>
            <a:srgbClr val="EFF5EF"/>
          </a:solidFill>
          <a:ln w="9525">
            <a:solidFill>
              <a:srgbClr val="C8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44622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8E5A"/>
                </a:solidFill>
                <a:latin typeface="Calibri"/>
              </a:rPr>
              <a:t>No overfitting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3659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Train 0.032 vs test 0.063 — ordinary generalisation error, not recall.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4297680"/>
            <a:ext cx="5394960" cy="960120"/>
          </a:xfrm>
          <a:prstGeom prst="roundRect">
            <a:avLst/>
          </a:prstGeom>
          <a:solidFill>
            <a:srgbClr val="E8EFFA"/>
          </a:solidFill>
          <a:ln w="9525">
            <a:solidFill>
              <a:srgbClr val="145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65392" y="44622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Ensembling 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73659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9% of the bulk error removed by averaging three initialisations.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10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How we compare to the literature</a:t>
            </a:r>
          </a:p>
        </p:txBody>
      </p:sp>
      <p:pic>
        <p:nvPicPr>
          <p:cNvPr id="4" name="Picture 3" descr="lit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6949440" cy="30114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325880"/>
            <a:ext cx="3547872" cy="30632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66760" y="15727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Reading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965960"/>
            <a:ext cx="3017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Our bulk ensemble slightly BEATS the paper it reproduces.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5B6B82"/>
                </a:solidFill>
                <a:latin typeface="Calibri"/>
              </a:rPr>
              <a:t>It sits between PINK and coGN — the best result ever published on this benchmark, with any architecture.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5B6B82"/>
                </a:solidFill>
                <a:latin typeface="Calibri"/>
              </a:rPr>
              <a:t>Same architecture, same data as the paper. The gains come from ensembling and the cosine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480974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Reproduction target met: 0.0630 against the paper's ≈0.070.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Predicted vs DFT — bulk modulus</a:t>
            </a:r>
          </a:p>
        </p:txBody>
      </p:sp>
      <p:pic>
        <p:nvPicPr>
          <p:cNvPr id="4" name="Picture 3" descr="parity_K_VRH_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42062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605272" cy="3611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5080" y="171907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mbria"/>
              </a:rPr>
              <a:t>How to read a parity 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49834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Every point is one crystal: DFT value on x, our prediction on y. A perfect model puts every point on the diagonal.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Points ABOVE the line are over-predictions; BELOW are under-predictions.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The shaded band marks “within a factor of 1.5” — a useful screening tolerance, where getting the RANKING right matters more than the absolute value.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Blue = the 1,648 held-out test crystals. Grey = the training cloud, shown for context only.</a:t>
            </a:r>
          </a:p>
          <a:p>
            <a:pPr algn="l">
              <a:spcBef>
                <a:spcPts val="1000"/>
              </a:spcBef>
            </a:pPr>
            <a:r>
              <a:rPr sz="1250" b="1" i="0">
                <a:solidFill>
                  <a:srgbClr val="1450AA"/>
                </a:solidFill>
                <a:latin typeface="Calibri"/>
              </a:rPr>
              <a:t>R² = 0.901 — the model explains 90% of the variance.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12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Predicted vs DFT — shear modulus</a:t>
            </a:r>
          </a:p>
        </p:txBody>
      </p:sp>
      <p:pic>
        <p:nvPicPr>
          <p:cNvPr id="4" name="Picture 3" descr="parity_G_VRH_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42062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605272" cy="3611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5080" y="171907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mbria"/>
              </a:rPr>
              <a:t>Shear is the harder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49834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MAE 0.0781 against 0.0630 for bulk — consistently worse, and for a physical reason.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Bulk modulus resists uniform compression, which is dominated by average bond stiffness — close to what a graph network reads off directly.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Shear modulus resists shape change, which depends on bond DIRECTIONALITY and on anisotropy the representation captures less directly.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The same ordering appears in the paper and across the matbench leaderboard — it is a property of the task, not of our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Where the errors live</a:t>
            </a:r>
          </a:p>
        </p:txBody>
      </p:sp>
      <p:pic>
        <p:nvPicPr>
          <p:cNvPr id="4" name="Picture 3" descr="residuals_K_VRH_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119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434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Left: unbiased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73168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The error distribution is centred on zero — the model does not systematically over- or under-predict.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434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B12"/>
                </a:solidFill>
                <a:latin typeface="Calibri"/>
              </a:rPr>
              <a:t>Right: the honest weakness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773168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Errors fan out below ~30 GPa. The model is least reliable on soft materials — precisely the ultralow-κ regime PINK targets.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Ensembling, and how it trains</a:t>
            </a:r>
          </a:p>
        </p:txBody>
      </p:sp>
      <p:pic>
        <p:nvPicPr>
          <p:cNvPr id="4" name="Picture 3" descr="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074920" cy="3092529"/>
          </a:xfrm>
          <a:prstGeom prst="rect">
            <a:avLst/>
          </a:prstGeom>
        </p:spPr>
      </p:pic>
      <p:pic>
        <p:nvPicPr>
          <p:cNvPr id="5" name="Picture 4" descr="training_K_VRH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72768"/>
            <a:ext cx="5605272" cy="2140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7091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Averaging three initialisations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Consistent gains on both targets — about 9–10% of the error, in line with the 10–15% typically expected.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709160"/>
            <a:ext cx="56052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Training curves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5029200"/>
            <a:ext cx="5605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Cosine annealing over 200 epochs. Train and validation stay close together throughout — no divergence, so no overfitting.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15 ·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How low can the error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Because the model is trained on log₁₀, MAE converts to a MULTIPLICATIVE error of 10^MAE − 1.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777240"/>
          </a:xfrm>
          <a:prstGeom prst="roundRect">
            <a:avLst/>
          </a:prstGeom>
          <a:solidFill>
            <a:srgbClr val="F7F9FD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Cambria"/>
              </a:rPr>
              <a:t>MAE 0.0630  →  within a factor of 1.156  →  15.6% typical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11091672" cy="1874519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F0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A2A"/>
                </a:solidFill>
                <a:latin typeface="Cambria"/>
              </a:rPr>
              <a:t>A ~2% relative error is NOT reachable on this task — by anyone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10469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2% would need MAE = 0.0086, about six times better than the best result ever published on this benchmark with any architecture.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5B6B82"/>
                </a:solidFill>
                <a:latin typeface="Calibri"/>
              </a:rPr>
              <a:t>The blocker is not model capacity — it is LABEL NOISE. The targets are DFT-computed elastic moduli, and DFT elastic constants themselves disagree with experiment by roughly 5–15%.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F2937"/>
                </a:solidFill>
                <a:latin typeface="Calibri"/>
              </a:rPr>
              <a:t>A model cannot be more accurate than the labels it is fitted to. A model reporting 2% here would be revealing a leak, not an achievement.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99262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Realistic floor for this architecture: ≈0.06 log₁₀, about 15%. We are at 0.0630.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16 ·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What we did differently from the paper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98448"/>
            <a:ext cx="502920" cy="804672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35024"/>
            <a:ext cx="10405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Written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1"/>
            <a:ext cx="10405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Graph construction, convolution, pooling and training loop are our own implementation — not a fork. No pre-trained weights are ever loaded.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02920" cy="804672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414015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31136"/>
            <a:ext cx="10405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Ensembles, not single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23744"/>
            <a:ext cx="10405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Three initialisations per target, averaged in log space. Worth ~9–10% of the error, and it supplies a per-crystal uncertainty the paper has no equivalent 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0672"/>
            <a:ext cx="502920" cy="804672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27248"/>
            <a:ext cx="10405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Adam with cosine annealing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19856"/>
            <a:ext cx="10405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Rather than the original CGCNN's SGD with step decay. On a fixed epoch budget a scheduled decay beats a reactive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86783"/>
            <a:ext cx="502920" cy="804672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59"/>
            <a:ext cx="10405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Provenance on every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15968"/>
            <a:ext cx="10405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Each row records whether the model was trained on that crystal. Without it, accuracy claims on a screening set cannot be interpreted — part of the apparent accuracy may be recall.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82896"/>
            <a:ext cx="502920" cy="804672"/>
          </a:xfrm>
          <a:prstGeom prst="round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510235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450AA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19472"/>
            <a:ext cx="10405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 documented error floor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12080"/>
            <a:ext cx="10405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We state what accuracy is achievable and why, and report both the multiplicative and range-normalised errors rather than whichever flatters more.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0644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95274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Deliberately identical: the architecture, the training data, the log target, the split ratio. In a reproduction, differences should be few and intentional.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17 ·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What this produces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1371600"/>
          </a:xfrm>
          <a:prstGeom prst="roundRect">
            <a:avLst/>
          </a:prstGeom>
          <a:solidFill>
            <a:srgbClr val="E8EFFA"/>
          </a:solidFill>
          <a:ln w="9525">
            <a:solidFill>
              <a:srgbClr val="145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50AA"/>
                </a:solidFill>
                <a:latin typeface="Cambria"/>
              </a:rPr>
              <a:t>results/pink_moduli_predictions.csv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Bulk and shear modulus for all 1,213 crystals — with Pugh ratio, DFT reference where one exists, per-crystal ensemble uncertainty, and a provenance tag. This is the input the κₗ stage consumes.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3575304" cy="1051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8E5A"/>
                </a:solidFill>
                <a:latin typeface="Cambria"/>
              </a:rPr>
              <a:t>935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520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crystals genuinely unseen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880360"/>
            <a:ext cx="3575304" cy="1051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2856" y="306324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D97B12"/>
                </a:solidFill>
                <a:latin typeface="Cambria"/>
              </a:rPr>
              <a:t>278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520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in matbench, so tagged as 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880360"/>
            <a:ext cx="3575304" cy="1051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450AA"/>
                </a:solidFill>
                <a:latin typeface="Cambria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20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2"/>
                </a:solidFill>
                <a:latin typeface="Calibri"/>
              </a:rPr>
              <a:t>in the held-out test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 built-in correctness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11091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Calibri"/>
              </a:rPr>
              <a:t>On the 42 test-provenance crystals the error is 0.062 — matching the benchmark test error. Had the provenance mapping been wrong, we would have seen the much lower training-set error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4041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Next: feed these moduli into the Slack model, and propagate the uncertainties through to κₗ — something the original pipeline cannot 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0AA"/>
                </a:solidFill>
                <a:latin typeface="Calibri"/>
              </a:rPr>
              <a:t>18 ·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mbria"/>
              </a:rPr>
              <a:t>Run it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1672" cy="12344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D0FF"/>
                </a:solidFill>
                <a:latin typeface="Consolas"/>
              </a:rPr>
              <a:t>conda env create -f environment.yml &amp;&amp; conda activate pink-cgcnn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D0FF"/>
                </a:solidFill>
                <a:latin typeface="Consolas"/>
              </a:rPr>
              <a:t>./run_pipeline.sh --predict        # ~2 min, no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D0FF"/>
                </a:solidFill>
                <a:latin typeface="Consolas"/>
              </a:rPr>
              <a:t>./run_pipeline.sh                  # retrain: ~45 min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575304" cy="16916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575304" cy="64008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30906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8E5A"/>
                </a:solidFill>
                <a:latin typeface="Calibri"/>
              </a:rPr>
              <a:t>Checkpoints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7472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All six models (~380 KB each) are in the repository, so every figure and number regenerates in two minutes without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834640"/>
            <a:ext cx="3575304" cy="16916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06824" y="2834640"/>
            <a:ext cx="3575304" cy="6400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62856" y="30906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0AA"/>
                </a:solidFill>
                <a:latin typeface="Calibri"/>
              </a:rPr>
              <a:t>~45 min on a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47472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Colab notebook included. On the 2016 laptop this was developed on, the same work takes about nine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834640"/>
            <a:ext cx="3575304" cy="16916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65008" y="2834640"/>
            <a:ext cx="3575304" cy="64008"/>
          </a:xfrm>
          <a:prstGeom prst="roundRect">
            <a:avLst/>
          </a:prstGeom>
          <a:solidFill>
            <a:srgbClr val="D9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30906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7B12"/>
                </a:solidFill>
                <a:latin typeface="Calibri"/>
              </a:rPr>
              <a:t>Numbers never hand-copied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This deck, RESULTS.md and the metrics table are all generated from the same CSV the pipeline writes.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5B6B82"/>
                </a:solidFill>
                <a:latin typeface="Calibri"/>
              </a:rPr>
              <a:t>Full write-up in docs/method.pdf  ·  github.com/ikhalid-dev/cgcnn-project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91672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54864" cy="566928"/>
          </a:xfrm>
          <a:prstGeom prst="roundRect">
            <a:avLst/>
          </a:prstGeom>
          <a:solidFill>
            <a:srgbClr val="14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4041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Reproduction target met: bulk MAE 0.0630 vs the paper's ≈0.070, on the paper's own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